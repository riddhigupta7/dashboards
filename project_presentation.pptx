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imes New Roman MT" panose="020B0604020202020204" charset="0"/>
      <p:regular r:id="rId13"/>
    </p:embeddedFont>
    <p:embeddedFont>
      <p:font typeface="Times New Roman MT Bold" panose="020B0604020202020204" charset="0"/>
      <p:regular r:id="rId14"/>
    </p:embeddedFont>
    <p:embeddedFont>
      <p:font typeface="Times New Roman MT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4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dhi gupta" userId="689552660f1ca71d" providerId="LiveId" clId="{38810E45-3FD5-42D9-BDFF-4E152599DEB4}"/>
    <pc:docChg chg="modSld">
      <pc:chgData name="riddhi gupta" userId="689552660f1ca71d" providerId="LiveId" clId="{38810E45-3FD5-42D9-BDFF-4E152599DEB4}" dt="2026-02-05T08:32:46.996" v="15" actId="6549"/>
      <pc:docMkLst>
        <pc:docMk/>
      </pc:docMkLst>
      <pc:sldChg chg="modSp mod">
        <pc:chgData name="riddhi gupta" userId="689552660f1ca71d" providerId="LiveId" clId="{38810E45-3FD5-42D9-BDFF-4E152599DEB4}" dt="2026-02-05T08:32:46.996" v="15" actId="6549"/>
        <pc:sldMkLst>
          <pc:docMk/>
          <pc:sldMk cId="0" sldId="256"/>
        </pc:sldMkLst>
        <pc:spChg chg="mod">
          <ac:chgData name="riddhi gupta" userId="689552660f1ca71d" providerId="LiveId" clId="{38810E45-3FD5-42D9-BDFF-4E152599DEB4}" dt="2026-02-05T08:32:46.996" v="15" actId="6549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529863" y="2258145"/>
            <a:ext cx="15228275" cy="33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2"/>
              </a:lnSpc>
            </a:pPr>
            <a:r>
              <a:rPr lang="en-US" sz="9418" spc="-282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Analysis of Indian General Elections 2019 &amp;2024</a:t>
            </a:r>
          </a:p>
          <a:p>
            <a:pPr algn="ctr">
              <a:lnSpc>
                <a:spcPts val="4089"/>
              </a:lnSpc>
            </a:pPr>
            <a:r>
              <a:rPr lang="en-US" sz="3618" spc="-108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using Power BI, Clustering &amp; Classification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6669" y="7117901"/>
            <a:ext cx="6296101" cy="92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3685"/>
              </a:lnSpc>
            </a:pPr>
            <a:endParaRPr lang="en-US" sz="2632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218368" y="-2621154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226695" y="1238466"/>
            <a:ext cx="9571714" cy="127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7"/>
              </a:lnSpc>
            </a:pPr>
            <a:r>
              <a:rPr lang="en-US" sz="8963" spc="-26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11355" y="3821431"/>
            <a:ext cx="9530131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2879"/>
              </a:lnSpc>
              <a:buFont typeface="Arial"/>
              <a:buChar char="•"/>
            </a:pPr>
            <a:r>
              <a:rPr lang="en-US" sz="3199" spc="-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Clean and preprocess raw constituency-level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98094" y="5486400"/>
            <a:ext cx="10590383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2879"/>
              </a:lnSpc>
              <a:buFont typeface="Arial"/>
              <a:buChar char="•"/>
            </a:pPr>
            <a:r>
              <a:rPr lang="en-US" sz="3199" spc="-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a Classification Model to predict Winner (Win/Loss)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1355" y="6976290"/>
            <a:ext cx="10426217" cy="81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2879"/>
              </a:lnSpc>
              <a:buFont typeface="Arial"/>
              <a:buChar char="•"/>
            </a:pPr>
            <a:r>
              <a:rPr lang="en-US" sz="3199" spc="-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 insights on seat changes, performance, alliances</a:t>
            </a:r>
          </a:p>
          <a:p>
            <a:pPr algn="l">
              <a:lnSpc>
                <a:spcPts val="2879"/>
              </a:lnSpc>
            </a:pPr>
            <a:endParaRPr lang="en-US" sz="3199" spc="-95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98094" y="4653916"/>
            <a:ext cx="877741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2879"/>
              </a:lnSpc>
              <a:buFont typeface="Arial"/>
              <a:buChar char="•"/>
            </a:pPr>
            <a:r>
              <a:rPr lang="en-US" sz="3199" spc="-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Run Clustering to group constituencies/voters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98094" y="6233340"/>
            <a:ext cx="9658453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2879"/>
              </a:lnSpc>
              <a:buFont typeface="Arial"/>
              <a:buChar char="•"/>
            </a:pPr>
            <a:r>
              <a:rPr lang="en-US" sz="3199" spc="-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a complete Election Analysis Dashboard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2507430"/>
            <a:ext cx="7511572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66" b="-13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00000">
            <a:off x="5379846" y="-2621154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1434873" y="2496754"/>
            <a:ext cx="7935366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19361" y="1077530"/>
            <a:ext cx="11524766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22937" y="4385287"/>
            <a:ext cx="9366937" cy="50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10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Datasets used (2019 + 2024 Winners):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54067" y="4385297"/>
            <a:ext cx="579879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3499" spc="-10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Conceptual Data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4873" y="5057775"/>
            <a:ext cx="7454720" cy="444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Constituency Name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State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Party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Candidate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Votes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Turnout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Alliance</a:t>
            </a:r>
          </a:p>
          <a:p>
            <a:pPr algn="l">
              <a:lnSpc>
                <a:spcPts val="3523"/>
              </a:lnSpc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Size: ~543 rows </a:t>
            </a:r>
          </a:p>
          <a:p>
            <a:pPr algn="l">
              <a:lnSpc>
                <a:spcPts val="3523"/>
              </a:lnSpc>
            </a:pPr>
            <a:endParaRPr lang="en-US" sz="2774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97424" y="5067300"/>
            <a:ext cx="7501232" cy="443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Tables: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Winners_2019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Winners_2024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Combined elections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Turnout Table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States Table</a:t>
            </a:r>
          </a:p>
          <a:p>
            <a:pPr algn="just">
              <a:lnSpc>
                <a:spcPts val="3459"/>
              </a:lnSpc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Relationships:</a:t>
            </a:r>
          </a:p>
          <a:p>
            <a:pPr marL="592748" lvl="1" indent="-296374" algn="just">
              <a:lnSpc>
                <a:spcPts val="3459"/>
              </a:lnSpc>
              <a:buFont typeface="Arial"/>
              <a:buChar char="•"/>
            </a:pPr>
            <a:r>
              <a:rPr lang="en-US" sz="2745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State → Constituency → Candidates → Results</a:t>
            </a:r>
          </a:p>
          <a:p>
            <a:pPr algn="just">
              <a:lnSpc>
                <a:spcPts val="3459"/>
              </a:lnSpc>
            </a:pPr>
            <a:endParaRPr lang="en-US" sz="2745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59779" y="2644392"/>
            <a:ext cx="7694288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Source: ECI (Election Commission of India)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66" b="-13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913623" y="395805"/>
            <a:ext cx="6440338" cy="6440338"/>
          </a:xfrm>
          <a:custGeom>
            <a:avLst/>
            <a:gdLst/>
            <a:ahLst/>
            <a:cxnLst/>
            <a:rect l="l" t="t" r="r" b="b"/>
            <a:pathLst>
              <a:path w="6440338" h="6440338">
                <a:moveTo>
                  <a:pt x="0" y="0"/>
                </a:moveTo>
                <a:lnTo>
                  <a:pt x="6440338" y="0"/>
                </a:lnTo>
                <a:lnTo>
                  <a:pt x="6440338" y="6440338"/>
                </a:lnTo>
                <a:lnTo>
                  <a:pt x="0" y="6440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10352634" y="3677798"/>
            <a:ext cx="7935366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7423514" y="2480830"/>
            <a:ext cx="9378348" cy="6356958"/>
          </a:xfrm>
          <a:custGeom>
            <a:avLst/>
            <a:gdLst/>
            <a:ahLst/>
            <a:cxnLst/>
            <a:rect l="l" t="t" r="r" b="b"/>
            <a:pathLst>
              <a:path w="9378348" h="6356958">
                <a:moveTo>
                  <a:pt x="0" y="0"/>
                </a:moveTo>
                <a:lnTo>
                  <a:pt x="9378349" y="0"/>
                </a:lnTo>
                <a:lnTo>
                  <a:pt x="937834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0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895875" y="794565"/>
            <a:ext cx="8609899" cy="212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sz="8300" spc="-24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Cleaning Steps (Python)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244721"/>
            <a:ext cx="5529173" cy="697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Performed in Python (Pandas):</a:t>
            </a:r>
          </a:p>
          <a:p>
            <a:pPr marL="539748" lvl="1" indent="-269874" algn="l">
              <a:lnSpc>
                <a:spcPts val="3499"/>
              </a:lnSpc>
              <a:buAutoNum type="arabicPeriod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extra spaces in constituency/state names</a:t>
            </a:r>
          </a:p>
          <a:p>
            <a:pPr marL="539748" lvl="1" indent="-269874" algn="l">
              <a:lnSpc>
                <a:spcPts val="3499"/>
              </a:lnSpc>
              <a:buAutoNum type="arabicPeriod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Convert all text to proper case</a:t>
            </a:r>
          </a:p>
          <a:p>
            <a:pPr marL="539748" lvl="1" indent="-269874" algn="l">
              <a:lnSpc>
                <a:spcPts val="3499"/>
              </a:lnSpc>
              <a:buAutoNum type="arabicPeriod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Fix inconsistent party names</a:t>
            </a:r>
          </a:p>
          <a:p>
            <a:pPr marL="539748" lvl="1" indent="-269874" algn="l">
              <a:lnSpc>
                <a:spcPts val="3499"/>
              </a:lnSpc>
              <a:buAutoNum type="arabicPeriod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duplicate rows</a:t>
            </a:r>
          </a:p>
          <a:p>
            <a:pPr marL="539748" lvl="1" indent="-269874" algn="l">
              <a:lnSpc>
                <a:spcPts val="3499"/>
              </a:lnSpc>
              <a:buAutoNum type="arabicPeriod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Handle missing votes/margin entries</a:t>
            </a:r>
          </a:p>
          <a:p>
            <a:pPr algn="l">
              <a:lnSpc>
                <a:spcPts val="3499"/>
              </a:lnSpc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 (Power BI)</a:t>
            </a:r>
          </a:p>
          <a:p>
            <a:pPr algn="l">
              <a:lnSpc>
                <a:spcPts val="3499"/>
              </a:lnSpc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Using Power Query Editor: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Transformed data types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Split/merge constituency names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Normalized party abbreviations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Created custom columns:Party category(INC ,BJP ,OTHERS)</a:t>
            </a:r>
          </a:p>
          <a:p>
            <a:pPr algn="l">
              <a:lnSpc>
                <a:spcPts val="2940"/>
              </a:lnSpc>
            </a:pPr>
            <a:endParaRPr lang="en-US" sz="2499" spc="-74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spc="-74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1962743"/>
            <a:ext cx="3166523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27552" y="1962743"/>
            <a:ext cx="6489941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i="1" spc="-299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ML?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99432" y="885817"/>
            <a:ext cx="359868" cy="29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000" i="1" spc="-6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48098" y="885817"/>
            <a:ext cx="1251334" cy="29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000" spc="-6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6486" y="3817112"/>
            <a:ext cx="5007527" cy="290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hidden voting patterns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Group constituencies with similar characteristics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 election outcomes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 party dominance patterns</a:t>
            </a:r>
          </a:p>
          <a:p>
            <a:pPr algn="l">
              <a:lnSpc>
                <a:spcPts val="3282"/>
              </a:lnSpc>
            </a:pPr>
            <a:endParaRPr lang="en-US" sz="2344" spc="-7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095732" y="2178812"/>
            <a:ext cx="11548106" cy="617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Clustering (Unsupervised)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Electors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Votes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Turnout (%)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 %</a:t>
            </a:r>
          </a:p>
          <a:p>
            <a:pPr algn="l">
              <a:lnSpc>
                <a:spcPts val="3282"/>
              </a:lnSpc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Classification (Supervised)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Votes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Turnout (%)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 %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 (encoded as GEN/SC/ST)</a:t>
            </a:r>
          </a:p>
          <a:p>
            <a:pPr marL="506192" lvl="1" indent="-253096" algn="l">
              <a:lnSpc>
                <a:spcPts val="3282"/>
              </a:lnSpc>
              <a:buFont typeface="Arial"/>
              <a:buChar char="•"/>
            </a:pPr>
            <a:r>
              <a:rPr lang="en-US" sz="2344" spc="-7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Target Variable (Created):</a:t>
            </a:r>
          </a:p>
          <a:p>
            <a:pPr algn="l">
              <a:lnSpc>
                <a:spcPts val="3282"/>
              </a:lnSpc>
            </a:pPr>
            <a:endParaRPr lang="en-US" sz="2344" spc="-7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282"/>
              </a:lnSpc>
            </a:pPr>
            <a:endParaRPr lang="en-US" sz="2344" spc="-7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66" b="-13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00000">
            <a:off x="5379846" y="-2829101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4911347" y="6319662"/>
            <a:ext cx="572298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10968950" y="6497453"/>
            <a:ext cx="572298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601541" y="4536030"/>
            <a:ext cx="5811666" cy="4405102"/>
            <a:chOff x="0" y="0"/>
            <a:chExt cx="1530644" cy="11601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0644" cy="1160191"/>
            </a:xfrm>
            <a:custGeom>
              <a:avLst/>
              <a:gdLst/>
              <a:ahLst/>
              <a:cxnLst/>
              <a:rect l="l" t="t" r="r" b="b"/>
              <a:pathLst>
                <a:path w="1530644" h="1160191">
                  <a:moveTo>
                    <a:pt x="67939" y="0"/>
                  </a:moveTo>
                  <a:lnTo>
                    <a:pt x="1462706" y="0"/>
                  </a:lnTo>
                  <a:cubicBezTo>
                    <a:pt x="1500227" y="0"/>
                    <a:pt x="1530644" y="30417"/>
                    <a:pt x="1530644" y="67939"/>
                  </a:cubicBezTo>
                  <a:lnTo>
                    <a:pt x="1530644" y="1092253"/>
                  </a:lnTo>
                  <a:cubicBezTo>
                    <a:pt x="1530644" y="1129774"/>
                    <a:pt x="1500227" y="1160191"/>
                    <a:pt x="1462706" y="1160191"/>
                  </a:cubicBezTo>
                  <a:lnTo>
                    <a:pt x="67939" y="1160191"/>
                  </a:lnTo>
                  <a:cubicBezTo>
                    <a:pt x="30417" y="1160191"/>
                    <a:pt x="0" y="1129774"/>
                    <a:pt x="0" y="1092253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9081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530644" cy="1141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2928" y="4536030"/>
            <a:ext cx="5662714" cy="4405102"/>
            <a:chOff x="0" y="0"/>
            <a:chExt cx="1491414" cy="11601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91414" cy="1160191"/>
            </a:xfrm>
            <a:custGeom>
              <a:avLst/>
              <a:gdLst/>
              <a:ahLst/>
              <a:cxnLst/>
              <a:rect l="l" t="t" r="r" b="b"/>
              <a:pathLst>
                <a:path w="1491414" h="1160191">
                  <a:moveTo>
                    <a:pt x="69726" y="0"/>
                  </a:moveTo>
                  <a:lnTo>
                    <a:pt x="1421688" y="0"/>
                  </a:lnTo>
                  <a:cubicBezTo>
                    <a:pt x="1460197" y="0"/>
                    <a:pt x="1491414" y="31217"/>
                    <a:pt x="1491414" y="69726"/>
                  </a:cubicBezTo>
                  <a:lnTo>
                    <a:pt x="1491414" y="1090466"/>
                  </a:lnTo>
                  <a:cubicBezTo>
                    <a:pt x="1491414" y="1128974"/>
                    <a:pt x="1460197" y="1160191"/>
                    <a:pt x="1421688" y="1160191"/>
                  </a:cubicBezTo>
                  <a:lnTo>
                    <a:pt x="69726" y="1160191"/>
                  </a:lnTo>
                  <a:cubicBezTo>
                    <a:pt x="31217" y="1160191"/>
                    <a:pt x="0" y="1128974"/>
                    <a:pt x="0" y="1090466"/>
                  </a:cubicBezTo>
                  <a:lnTo>
                    <a:pt x="0" y="69726"/>
                  </a:lnTo>
                  <a:cubicBezTo>
                    <a:pt x="0" y="31217"/>
                    <a:pt x="31217" y="0"/>
                    <a:pt x="69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9081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491414" cy="1141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58541" y="4563929"/>
            <a:ext cx="5543935" cy="4377202"/>
            <a:chOff x="0" y="0"/>
            <a:chExt cx="1460131" cy="1152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0131" cy="1152843"/>
            </a:xfrm>
            <a:custGeom>
              <a:avLst/>
              <a:gdLst/>
              <a:ahLst/>
              <a:cxnLst/>
              <a:rect l="l" t="t" r="r" b="b"/>
              <a:pathLst>
                <a:path w="1460131" h="1152843">
                  <a:moveTo>
                    <a:pt x="71220" y="0"/>
                  </a:moveTo>
                  <a:lnTo>
                    <a:pt x="1388911" y="0"/>
                  </a:lnTo>
                  <a:cubicBezTo>
                    <a:pt x="1407800" y="0"/>
                    <a:pt x="1425915" y="7503"/>
                    <a:pt x="1439271" y="20860"/>
                  </a:cubicBezTo>
                  <a:cubicBezTo>
                    <a:pt x="1452627" y="34216"/>
                    <a:pt x="1460131" y="52331"/>
                    <a:pt x="1460131" y="71220"/>
                  </a:cubicBezTo>
                  <a:lnTo>
                    <a:pt x="1460131" y="1081624"/>
                  </a:lnTo>
                  <a:cubicBezTo>
                    <a:pt x="1460131" y="1120957"/>
                    <a:pt x="1428245" y="1152843"/>
                    <a:pt x="1388911" y="1152843"/>
                  </a:cubicBezTo>
                  <a:lnTo>
                    <a:pt x="71220" y="1152843"/>
                  </a:lnTo>
                  <a:cubicBezTo>
                    <a:pt x="52331" y="1152843"/>
                    <a:pt x="34216" y="1145340"/>
                    <a:pt x="20860" y="1131984"/>
                  </a:cubicBezTo>
                  <a:cubicBezTo>
                    <a:pt x="7503" y="1118627"/>
                    <a:pt x="0" y="1100512"/>
                    <a:pt x="0" y="1081624"/>
                  </a:cubicBezTo>
                  <a:lnTo>
                    <a:pt x="0" y="71220"/>
                  </a:lnTo>
                  <a:cubicBezTo>
                    <a:pt x="0" y="52331"/>
                    <a:pt x="7503" y="34216"/>
                    <a:pt x="20860" y="20860"/>
                  </a:cubicBezTo>
                  <a:cubicBezTo>
                    <a:pt x="34216" y="7503"/>
                    <a:pt x="52331" y="0"/>
                    <a:pt x="71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9081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460131" cy="1133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1541" y="663193"/>
            <a:ext cx="7060202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3127" y="4633229"/>
            <a:ext cx="4928493" cy="40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 0 – High Competition Seats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3629" y="4633229"/>
            <a:ext cx="4222904" cy="40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 1 – Moderate Seats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01516" y="4633245"/>
            <a:ext cx="3409099" cy="74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 2 – Landslide / Safe Seats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52928" y="380589"/>
            <a:ext cx="12160174" cy="4155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Algorithm: K-Means Clustering          Number of Clusters: 3</a:t>
            </a:r>
          </a:p>
          <a:p>
            <a:pPr algn="l">
              <a:lnSpc>
                <a:spcPts val="4059"/>
              </a:lnSpc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Chosen because: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Elections naturally form 3 seat types:</a:t>
            </a:r>
          </a:p>
          <a:p>
            <a:pPr marL="1252211" lvl="2" indent="-417404" algn="l">
              <a:lnSpc>
                <a:spcPts val="4059"/>
              </a:lnSpc>
              <a:buFont typeface="Arial"/>
              <a:buChar char="⚬"/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High-competition seats</a:t>
            </a:r>
          </a:p>
          <a:p>
            <a:pPr marL="1252211" lvl="2" indent="-417404" algn="l">
              <a:lnSpc>
                <a:spcPts val="4059"/>
              </a:lnSpc>
              <a:buFont typeface="Arial"/>
              <a:buChar char="⚬"/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Moderate-performance seats</a:t>
            </a:r>
          </a:p>
          <a:p>
            <a:pPr marL="1252211" lvl="2" indent="-417404" algn="l">
              <a:lnSpc>
                <a:spcPts val="4059"/>
              </a:lnSpc>
              <a:buFont typeface="Arial"/>
              <a:buChar char="⚬"/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Strong-dominance seats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 spc="-86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Elbow method showed bend ≈ k=3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spc="-86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3127" y="5325362"/>
            <a:ext cx="4928493" cy="356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 margin (≤ 25,000)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Turnout high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Vote % difference very tight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unpredictability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Interpretation: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These are swing constituencies, where small shifts can change outcomes.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20038" y="5074554"/>
            <a:ext cx="4928493" cy="312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Characteristics: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Medium margin (25k–150k)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Balanced turnout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Medium vote share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Interpretation: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These seats show stable but not dominant support.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73983" y="5253887"/>
            <a:ext cx="4928493" cy="400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</a:pPr>
            <a:endParaRPr/>
          </a:p>
          <a:p>
            <a:pPr algn="l">
              <a:lnSpc>
                <a:spcPts val="3523"/>
              </a:lnSpc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Very high margin (&gt; 150,000)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elector count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vote share (%)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Interpretation:</a:t>
            </a:r>
          </a:p>
          <a:p>
            <a:pPr marL="598923" lvl="1" indent="-299462" algn="l">
              <a:lnSpc>
                <a:spcPts val="3523"/>
              </a:lnSpc>
              <a:buFont typeface="Arial"/>
              <a:buChar char="•"/>
            </a:pPr>
            <a:r>
              <a:rPr lang="en-US" sz="2774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These are safe constituencies—party dominance is strong.</a:t>
            </a:r>
          </a:p>
          <a:p>
            <a:pPr algn="l">
              <a:lnSpc>
                <a:spcPts val="3523"/>
              </a:lnSpc>
            </a:pPr>
            <a:endParaRPr lang="en-US" sz="2774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379846" y="-2621154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0352634" y="3413206"/>
            <a:ext cx="7935366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109701" y="1570166"/>
            <a:ext cx="7664206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52634" y="520951"/>
            <a:ext cx="7530043" cy="278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576" spc="-7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Used: Random Forest Classifier</a:t>
            </a:r>
          </a:p>
          <a:p>
            <a:pPr algn="l">
              <a:lnSpc>
                <a:spcPts val="3607"/>
              </a:lnSpc>
            </a:pPr>
            <a:r>
              <a:rPr lang="en-US" sz="2576" spc="-7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Target Variable:</a:t>
            </a:r>
          </a:p>
          <a:p>
            <a:pPr marL="556365" lvl="1" indent="-278182" algn="l">
              <a:lnSpc>
                <a:spcPts val="3607"/>
              </a:lnSpc>
              <a:buFont typeface="Arial"/>
              <a:buChar char="•"/>
            </a:pPr>
            <a:r>
              <a:rPr lang="en-US" sz="2576" spc="-7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 = Safe Seat (Margin &gt; 100,000)</a:t>
            </a:r>
          </a:p>
          <a:p>
            <a:pPr marL="556365" lvl="1" indent="-278182" algn="l">
              <a:lnSpc>
                <a:spcPts val="3607"/>
              </a:lnSpc>
              <a:buFont typeface="Arial"/>
              <a:buChar char="•"/>
            </a:pPr>
            <a:r>
              <a:rPr lang="en-US" sz="2576" spc="-7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 = Competitive Seat (Margin ≤ 100,000)</a:t>
            </a:r>
          </a:p>
          <a:p>
            <a:pPr marL="556365" lvl="1" indent="-278182" algn="l">
              <a:lnSpc>
                <a:spcPts val="3607"/>
              </a:lnSpc>
              <a:buFont typeface="Arial"/>
              <a:buChar char="•"/>
            </a:pPr>
            <a:r>
              <a:rPr lang="en-US" sz="2576" spc="-7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(train-test split = 80:20)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endParaRPr lang="en-US" sz="2576" spc="-77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267825"/>
            <a:ext cx="2844024" cy="29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www.reallygreatsite.com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33659"/>
            <a:ext cx="6344672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Performance Metrics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Accuracy: 85–90%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Precision: High for safe seats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Recall: Good for identifying competitive seats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Confusion Matrix:</a:t>
            </a:r>
          </a:p>
          <a:p>
            <a:pPr marL="1079496" lvl="2" indent="-359832" algn="l">
              <a:lnSpc>
                <a:spcPts val="2499"/>
              </a:lnSpc>
              <a:buFont typeface="Arial"/>
              <a:buChar char="⚬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Few false positives (safe incorrectly predicted)</a:t>
            </a:r>
          </a:p>
          <a:p>
            <a:pPr marL="1079496" lvl="2" indent="-359832" algn="l">
              <a:lnSpc>
                <a:spcPts val="2499"/>
              </a:lnSpc>
              <a:buFont typeface="Arial"/>
              <a:buChar char="⚬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Some false negatives (competitive marked as safe)</a:t>
            </a:r>
          </a:p>
          <a:p>
            <a:pPr algn="l">
              <a:lnSpc>
                <a:spcPts val="2499"/>
              </a:lnSpc>
            </a:pPr>
            <a:endParaRPr lang="en-US" sz="2499" b="1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73907" y="4447984"/>
            <a:ext cx="6344672" cy="289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Classification model predicted seat safety with ~90% accuracy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Margin %, Votes, Electors emerged as strongest predictors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These insights help analysts identify: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parties are strong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elections are close</a:t>
            </a:r>
          </a:p>
          <a:p>
            <a:pPr marL="539748" lvl="1" indent="-269874" algn="l">
              <a:lnSpc>
                <a:spcPts val="2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campaign resources matter most</a:t>
            </a:r>
          </a:p>
          <a:p>
            <a:pPr algn="l">
              <a:lnSpc>
                <a:spcPts val="2499"/>
              </a:lnSpc>
            </a:pPr>
            <a:endParaRPr lang="en-US" sz="2499" b="1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66" b="-13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00000">
            <a:off x="5379846" y="-2621154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245578" y="439055"/>
            <a:ext cx="16256673" cy="8819245"/>
          </a:xfrm>
          <a:custGeom>
            <a:avLst/>
            <a:gdLst/>
            <a:ahLst/>
            <a:cxnLst/>
            <a:rect l="l" t="t" r="r" b="b"/>
            <a:pathLst>
              <a:path w="16256673" h="8819245">
                <a:moveTo>
                  <a:pt x="0" y="0"/>
                </a:moveTo>
                <a:lnTo>
                  <a:pt x="16256672" y="0"/>
                </a:lnTo>
                <a:lnTo>
                  <a:pt x="16256672" y="8819245"/>
                </a:lnTo>
                <a:lnTo>
                  <a:pt x="0" y="8819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41271" y="876292"/>
            <a:ext cx="15205457" cy="8382008"/>
          </a:xfrm>
          <a:custGeom>
            <a:avLst/>
            <a:gdLst/>
            <a:ahLst/>
            <a:cxnLst/>
            <a:rect l="l" t="t" r="r" b="b"/>
            <a:pathLst>
              <a:path w="15205457" h="8382008">
                <a:moveTo>
                  <a:pt x="0" y="0"/>
                </a:moveTo>
                <a:lnTo>
                  <a:pt x="15205458" y="0"/>
                </a:lnTo>
                <a:lnTo>
                  <a:pt x="15205458" y="8382008"/>
                </a:lnTo>
                <a:lnTo>
                  <a:pt x="0" y="8382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66" b="-13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00000">
            <a:off x="5379846" y="-2621154"/>
            <a:ext cx="7528308" cy="18288000"/>
          </a:xfrm>
          <a:custGeom>
            <a:avLst/>
            <a:gdLst/>
            <a:ahLst/>
            <a:cxnLst/>
            <a:rect l="l" t="t" r="r" b="b"/>
            <a:pathLst>
              <a:path w="7528308" h="18288000">
                <a:moveTo>
                  <a:pt x="0" y="0"/>
                </a:moveTo>
                <a:lnTo>
                  <a:pt x="7528308" y="0"/>
                </a:lnTo>
                <a:lnTo>
                  <a:pt x="752830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292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548893"/>
            <a:ext cx="2871801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61388" y="548893"/>
            <a:ext cx="5782612" cy="141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i="1" spc="-299">
                <a:solidFill>
                  <a:srgbClr val="070614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insights</a:t>
            </a:r>
          </a:p>
        </p:txBody>
      </p:sp>
      <p:sp>
        <p:nvSpPr>
          <p:cNvPr id="6" name="Freeform 6"/>
          <p:cNvSpPr/>
          <p:nvPr/>
        </p:nvSpPr>
        <p:spPr>
          <a:xfrm>
            <a:off x="1122314" y="3677798"/>
            <a:ext cx="476120" cy="476120"/>
          </a:xfrm>
          <a:custGeom>
            <a:avLst/>
            <a:gdLst/>
            <a:ahLst/>
            <a:cxnLst/>
            <a:rect l="l" t="t" r="r" b="b"/>
            <a:pathLst>
              <a:path w="476120" h="476120">
                <a:moveTo>
                  <a:pt x="0" y="0"/>
                </a:moveTo>
                <a:lnTo>
                  <a:pt x="476121" y="0"/>
                </a:lnTo>
                <a:lnTo>
                  <a:pt x="476121" y="476120"/>
                </a:lnTo>
                <a:lnTo>
                  <a:pt x="0" y="47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231980" y="3649223"/>
            <a:ext cx="13646234" cy="74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Seats Comparison • BJP won 303 seats in 2019 but reduced to 240 in 2024. • INC improved from 52 seats (2019) to 99 seats (2024).</a:t>
            </a:r>
          </a:p>
        </p:txBody>
      </p:sp>
      <p:sp>
        <p:nvSpPr>
          <p:cNvPr id="8" name="Freeform 8"/>
          <p:cNvSpPr/>
          <p:nvPr/>
        </p:nvSpPr>
        <p:spPr>
          <a:xfrm>
            <a:off x="1122314" y="5000625"/>
            <a:ext cx="476120" cy="476120"/>
          </a:xfrm>
          <a:custGeom>
            <a:avLst/>
            <a:gdLst/>
            <a:ahLst/>
            <a:cxnLst/>
            <a:rect l="l" t="t" r="r" b="b"/>
            <a:pathLst>
              <a:path w="476120" h="476120">
                <a:moveTo>
                  <a:pt x="0" y="0"/>
                </a:moveTo>
                <a:lnTo>
                  <a:pt x="476121" y="0"/>
                </a:lnTo>
                <a:lnTo>
                  <a:pt x="476121" y="476120"/>
                </a:lnTo>
                <a:lnTo>
                  <a:pt x="0" y="47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231980" y="4923725"/>
            <a:ext cx="13361047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Overall Political Trend • 2024 election shows a more competitive landscape. • Opposition parties gained traction. • Regional parties still hold strong influence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22314" y="6324470"/>
            <a:ext cx="476120" cy="476120"/>
          </a:xfrm>
          <a:custGeom>
            <a:avLst/>
            <a:gdLst/>
            <a:ahLst/>
            <a:cxnLst/>
            <a:rect l="l" t="t" r="r" b="b"/>
            <a:pathLst>
              <a:path w="476120" h="476120">
                <a:moveTo>
                  <a:pt x="0" y="0"/>
                </a:moveTo>
                <a:lnTo>
                  <a:pt x="476121" y="0"/>
                </a:lnTo>
                <a:lnTo>
                  <a:pt x="476121" y="476121"/>
                </a:lnTo>
                <a:lnTo>
                  <a:pt x="0" y="476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2231980" y="6342756"/>
            <a:ext cx="13646234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Uttar Pradesh has the largest number of constituencies by far, making it the most impactful state in the Lok Sabha outcome.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22314" y="7248266"/>
            <a:ext cx="476120" cy="476120"/>
          </a:xfrm>
          <a:custGeom>
            <a:avLst/>
            <a:gdLst/>
            <a:ahLst/>
            <a:cxnLst/>
            <a:rect l="l" t="t" r="r" b="b"/>
            <a:pathLst>
              <a:path w="476120" h="476120">
                <a:moveTo>
                  <a:pt x="0" y="0"/>
                </a:moveTo>
                <a:lnTo>
                  <a:pt x="476121" y="0"/>
                </a:lnTo>
                <a:lnTo>
                  <a:pt x="476121" y="476120"/>
                </a:lnTo>
                <a:lnTo>
                  <a:pt x="0" y="47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1854073" y="7292983"/>
            <a:ext cx="13898172" cy="211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BJP maintains strong dominance across north and west India, especially UP, MP, Rajasthan, and Gujarat.</a:t>
            </a: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 and regional parties have stronger representation in south India and parts of the east, such as:</a:t>
            </a: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Kerala, Tamil Nadu, Karnataka, Telangana</a:t>
            </a: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West Bengal dominated more by regional parties (TMC)</a:t>
            </a:r>
          </a:p>
          <a:p>
            <a:pPr algn="l">
              <a:lnSpc>
                <a:spcPts val="2749"/>
              </a:lnSpc>
            </a:pPr>
            <a:endParaRPr lang="en-US" sz="2499">
              <a:solidFill>
                <a:srgbClr val="07061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81232" y="9410708"/>
            <a:ext cx="13706768" cy="0"/>
          </a:xfrm>
          <a:prstGeom prst="line">
            <a:avLst/>
          </a:prstGeom>
          <a:ln w="9525" cap="flat">
            <a:solidFill>
              <a:srgbClr val="09081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028700" y="9267825"/>
            <a:ext cx="2844024" cy="29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www.reallygreatsite.com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22314" y="2758692"/>
            <a:ext cx="476120" cy="476120"/>
          </a:xfrm>
          <a:custGeom>
            <a:avLst/>
            <a:gdLst/>
            <a:ahLst/>
            <a:cxnLst/>
            <a:rect l="l" t="t" r="r" b="b"/>
            <a:pathLst>
              <a:path w="476120" h="476120">
                <a:moveTo>
                  <a:pt x="0" y="0"/>
                </a:moveTo>
                <a:lnTo>
                  <a:pt x="476121" y="0"/>
                </a:lnTo>
                <a:lnTo>
                  <a:pt x="476121" y="476120"/>
                </a:lnTo>
                <a:lnTo>
                  <a:pt x="0" y="47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2106011" y="2862702"/>
            <a:ext cx="13646234" cy="40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7061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Margins narrowed, indicating more contested elections.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3627552" y="9410708"/>
            <a:ext cx="1466044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9267825"/>
            <a:ext cx="2844024" cy="29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Advertising Report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7723" y="3295651"/>
            <a:ext cx="6489941" cy="184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9"/>
              </a:lnSpc>
            </a:pPr>
            <a:r>
              <a:rPr lang="en-US" sz="12999" spc="-38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295651"/>
            <a:ext cx="6489941" cy="184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9"/>
              </a:lnSpc>
            </a:pPr>
            <a:r>
              <a:rPr lang="en-US" sz="12999" i="1" spc="-389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Office PowerPoint</Application>
  <PresentationFormat>Custom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 MT</vt:lpstr>
      <vt:lpstr>Times New Roman MT Italics</vt:lpstr>
      <vt:lpstr>Times New Roman MT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Gradient Advertising Report Presentation</dc:title>
  <cp:lastModifiedBy>riddhi gupta</cp:lastModifiedBy>
  <cp:revision>1</cp:revision>
  <dcterms:created xsi:type="dcterms:W3CDTF">2006-08-16T00:00:00Z</dcterms:created>
  <dcterms:modified xsi:type="dcterms:W3CDTF">2026-02-05T08:32:49Z</dcterms:modified>
  <dc:identifier>DAG6SVgmA30</dc:identifier>
</cp:coreProperties>
</file>